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_rels/notesSlide10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_rels/presentation.xml.rels" ContentType="application/vnd.openxmlformats-package.relationships+xml"/>
  <Override PartName="/ppt/media/image1.jpeg" ContentType="image/jpeg"/>
  <Override PartName="/ppt/media/image5.png" ContentType="image/png"/>
  <Override PartName="/ppt/media/image10.png" ContentType="image/png"/>
  <Override PartName="/ppt/media/image2.jpeg" ContentType="image/jpeg"/>
  <Override PartName="/ppt/media/image3.jpeg" ContentType="image/jpeg"/>
  <Override PartName="/ppt/media/image4.png" ContentType="image/png"/>
  <Override PartName="/ppt/media/image6.png" ContentType="image/png"/>
  <Override PartName="/ppt/media/image11.png" ContentType="image/png"/>
  <Override PartName="/ppt/media/image7.png" ContentType="image/png"/>
  <Override PartName="/ppt/media/image12.png" ContentType="image/png"/>
  <Override PartName="/ppt/media/image8.png" ContentType="image/png"/>
  <Override PartName="/ppt/media/image9.png" ContentType="image/png"/>
  <Override PartName="/ppt/slideLayouts/_rels/slideLayout1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6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9144000" cy="6858000"/>
  <p:notesSz cx="6761163" cy="99425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ru-RU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32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33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34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19E8815D-D4CF-45FE-ABBA-684D4F04D1A2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sldImg"/>
          </p:nvPr>
        </p:nvSpPr>
        <p:spPr>
          <a:xfrm>
            <a:off x="895320" y="746280"/>
            <a:ext cx="4970160" cy="3728520"/>
          </a:xfrm>
          <a:prstGeom prst="rect">
            <a:avLst/>
          </a:prstGeom>
          <a:ln w="0">
            <a:noFill/>
          </a:ln>
        </p:spPr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676080" y="4722840"/>
            <a:ext cx="5408640" cy="4473720"/>
          </a:xfrm>
          <a:prstGeom prst="rect">
            <a:avLst/>
          </a:prstGeom>
          <a:noFill/>
          <a:ln w="0">
            <a:noFill/>
          </a:ln>
        </p:spPr>
        <p:txBody>
          <a:bodyPr lIns="92160" rIns="92160" tIns="46080" bIns="4608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 type="sldNum" idx="4"/>
          </p:nvPr>
        </p:nvSpPr>
        <p:spPr>
          <a:xfrm>
            <a:off x="3829680" y="9443520"/>
            <a:ext cx="2929320" cy="496800"/>
          </a:xfrm>
          <a:prstGeom prst="rect">
            <a:avLst/>
          </a:prstGeom>
          <a:noFill/>
          <a:ln w="0">
            <a:noFill/>
          </a:ln>
        </p:spPr>
        <p:txBody>
          <a:bodyPr lIns="92160" rIns="92160" tIns="46080" bIns="4608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D4EC006-FF4F-4717-A8C6-B484FCEADD6B}" type="slidenum">
              <a:rPr b="0" lang="ru-RU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sldImg"/>
          </p:nvPr>
        </p:nvSpPr>
        <p:spPr>
          <a:xfrm>
            <a:off x="895320" y="746280"/>
            <a:ext cx="4970160" cy="3728520"/>
          </a:xfrm>
          <a:prstGeom prst="rect">
            <a:avLst/>
          </a:prstGeom>
          <a:ln w="0">
            <a:noFill/>
          </a:ln>
        </p:spPr>
      </p:sp>
      <p:sp>
        <p:nvSpPr>
          <p:cNvPr id="171" name="PlaceHolder 2"/>
          <p:cNvSpPr>
            <a:spLocks noGrp="1"/>
          </p:cNvSpPr>
          <p:nvPr>
            <p:ph type="body"/>
          </p:nvPr>
        </p:nvSpPr>
        <p:spPr>
          <a:xfrm>
            <a:off x="676080" y="4722840"/>
            <a:ext cx="5408640" cy="4473720"/>
          </a:xfrm>
          <a:prstGeom prst="rect">
            <a:avLst/>
          </a:prstGeom>
          <a:noFill/>
          <a:ln w="0">
            <a:noFill/>
          </a:ln>
        </p:spPr>
        <p:txBody>
          <a:bodyPr lIns="92160" rIns="92160" tIns="46080" bIns="4608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 type="sldNum" idx="5"/>
          </p:nvPr>
        </p:nvSpPr>
        <p:spPr>
          <a:xfrm>
            <a:off x="3829680" y="9443520"/>
            <a:ext cx="2929320" cy="496800"/>
          </a:xfrm>
          <a:prstGeom prst="rect">
            <a:avLst/>
          </a:prstGeom>
          <a:noFill/>
          <a:ln w="0">
            <a:noFill/>
          </a:ln>
        </p:spPr>
        <p:txBody>
          <a:bodyPr lIns="92160" rIns="92160" tIns="46080" bIns="4608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C90EEDA-5B89-4D44-B1FB-91AF23C13287}" type="slidenum">
              <a:rPr b="0" lang="ru-RU" sz="1200" spc="-1" strike="noStrike">
                <a:solidFill>
                  <a:srgbClr val="ffffff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sldImg"/>
          </p:nvPr>
        </p:nvSpPr>
        <p:spPr>
          <a:xfrm>
            <a:off x="895320" y="746280"/>
            <a:ext cx="4970160" cy="3728520"/>
          </a:xfrm>
          <a:prstGeom prst="rect">
            <a:avLst/>
          </a:prstGeom>
          <a:ln w="0">
            <a:noFill/>
          </a:ln>
        </p:spPr>
      </p:sp>
      <p:sp>
        <p:nvSpPr>
          <p:cNvPr id="174" name="PlaceHolder 2"/>
          <p:cNvSpPr>
            <a:spLocks noGrp="1"/>
          </p:cNvSpPr>
          <p:nvPr>
            <p:ph type="body"/>
          </p:nvPr>
        </p:nvSpPr>
        <p:spPr>
          <a:xfrm>
            <a:off x="676080" y="4722840"/>
            <a:ext cx="5408640" cy="4473720"/>
          </a:xfrm>
          <a:prstGeom prst="rect">
            <a:avLst/>
          </a:prstGeom>
          <a:noFill/>
          <a:ln w="0">
            <a:noFill/>
          </a:ln>
        </p:spPr>
        <p:txBody>
          <a:bodyPr lIns="92160" rIns="92160" tIns="46080" bIns="4608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 type="sldNum" idx="6"/>
          </p:nvPr>
        </p:nvSpPr>
        <p:spPr>
          <a:xfrm>
            <a:off x="3829680" y="9443520"/>
            <a:ext cx="2929320" cy="496800"/>
          </a:xfrm>
          <a:prstGeom prst="rect">
            <a:avLst/>
          </a:prstGeom>
          <a:noFill/>
          <a:ln w="0">
            <a:noFill/>
          </a:ln>
        </p:spPr>
        <p:txBody>
          <a:bodyPr lIns="92160" rIns="92160" tIns="46080" bIns="4608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FFDF394-AC76-4896-A383-D0ED5B7AA50B}" type="slidenum">
              <a:rPr b="0" lang="ru-RU" sz="1200" spc="-1" strike="noStrike">
                <a:solidFill>
                  <a:srgbClr val="ffffff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4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5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1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5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6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7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8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Прямоугольник 6"/>
          <p:cNvSpPr/>
          <p:nvPr/>
        </p:nvSpPr>
        <p:spPr>
          <a:xfrm>
            <a:off x="-19440" y="1098000"/>
            <a:ext cx="9162720" cy="52268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" name="Прямоугольник 8"/>
          <p:cNvSpPr/>
          <p:nvPr/>
        </p:nvSpPr>
        <p:spPr>
          <a:xfrm>
            <a:off x="1944720" y="0"/>
            <a:ext cx="7198920" cy="1079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" name="Прямоугольник 9"/>
          <p:cNvSpPr/>
          <p:nvPr/>
        </p:nvSpPr>
        <p:spPr>
          <a:xfrm>
            <a:off x="-17280" y="6345360"/>
            <a:ext cx="1943640" cy="5396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" name="Прямоугольник 10"/>
          <p:cNvSpPr/>
          <p:nvPr/>
        </p:nvSpPr>
        <p:spPr>
          <a:xfrm>
            <a:off x="1944720" y="6345360"/>
            <a:ext cx="7198920" cy="539640"/>
          </a:xfrm>
          <a:prstGeom prst="rect">
            <a:avLst/>
          </a:prstGeom>
          <a:solidFill>
            <a:srgbClr val="339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4" name="Picture 3" descr="W:\Рабочая\!Совещания Доклады\Для слайдов\!Шаблоны фон и тд\Лого 2017-2 для презентации 0-102-204.jpg"/>
          <p:cNvPicPr/>
          <p:nvPr/>
        </p:nvPicPr>
        <p:blipFill>
          <a:blip r:embed="rId2"/>
          <a:stretch/>
        </p:blipFill>
        <p:spPr>
          <a:xfrm>
            <a:off x="-17280" y="0"/>
            <a:ext cx="1943640" cy="1079640"/>
          </a:xfrm>
          <a:prstGeom prst="rect">
            <a:avLst/>
          </a:prstGeom>
          <a:ln w="0">
            <a:noFill/>
          </a:ln>
        </p:spPr>
      </p:pic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ru-RU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ru-RU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ru-RU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ru-RU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ru-RU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ru-RU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ru-RU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Прямоугольник 6"/>
          <p:cNvSpPr/>
          <p:nvPr/>
        </p:nvSpPr>
        <p:spPr>
          <a:xfrm>
            <a:off x="1944720" y="0"/>
            <a:ext cx="7198920" cy="1079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4" name="Прямоугольник 8"/>
          <p:cNvSpPr/>
          <p:nvPr/>
        </p:nvSpPr>
        <p:spPr>
          <a:xfrm>
            <a:off x="1944720" y="6345360"/>
            <a:ext cx="7198920" cy="539640"/>
          </a:xfrm>
          <a:prstGeom prst="rect">
            <a:avLst/>
          </a:prstGeom>
          <a:solidFill>
            <a:srgbClr val="339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45" name="Picture 3" descr="W:\Рабочая\!Совещания Доклады\Для слайдов\!Шаблоны фон и тд\Лого 2017-2 для презентации 0-102-204.jpg"/>
          <p:cNvPicPr/>
          <p:nvPr/>
        </p:nvPicPr>
        <p:blipFill>
          <a:blip r:embed="rId2"/>
          <a:stretch/>
        </p:blipFill>
        <p:spPr>
          <a:xfrm>
            <a:off x="-17280" y="0"/>
            <a:ext cx="1943640" cy="1079640"/>
          </a:xfrm>
          <a:prstGeom prst="rect">
            <a:avLst/>
          </a:prstGeom>
          <a:ln w="0">
            <a:noFill/>
          </a:ln>
        </p:spPr>
      </p:pic>
      <p:sp>
        <p:nvSpPr>
          <p:cNvPr id="46" name="Прямоугольник 12"/>
          <p:cNvSpPr/>
          <p:nvPr/>
        </p:nvSpPr>
        <p:spPr>
          <a:xfrm>
            <a:off x="-17280" y="6345360"/>
            <a:ext cx="1943640" cy="5396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7" name="Номер слайда 5"/>
          <p:cNvSpPr/>
          <p:nvPr/>
        </p:nvSpPr>
        <p:spPr>
          <a:xfrm>
            <a:off x="0" y="6345360"/>
            <a:ext cx="1943280" cy="51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</a:pPr>
            <a:fld id="{EA360006-CEEA-47CC-B1B4-B96AAA88C393}" type="slidenum">
              <a:rPr b="0" lang="ru-RU" sz="2000" spc="-1" strike="noStrike">
                <a:solidFill>
                  <a:srgbClr val="ffffff"/>
                </a:solidFill>
                <a:latin typeface="Arial Narrow"/>
              </a:rPr>
              <a:t>&lt;number&gt;</a:t>
            </a:fld>
            <a:endParaRPr b="0" lang="en-US" sz="2000" spc="-1" strike="noStrike">
              <a:latin typeface="Arial"/>
            </a:endParaRPr>
          </a:p>
        </p:txBody>
      </p:sp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ru-RU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ru-RU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ru-RU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ru-RU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ru-RU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ru-RU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ru-RU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Прямоугольник 6"/>
          <p:cNvSpPr/>
          <p:nvPr/>
        </p:nvSpPr>
        <p:spPr>
          <a:xfrm>
            <a:off x="1944720" y="0"/>
            <a:ext cx="7198920" cy="1079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7" name="Прямоугольник 8"/>
          <p:cNvSpPr/>
          <p:nvPr/>
        </p:nvSpPr>
        <p:spPr>
          <a:xfrm>
            <a:off x="1944720" y="6345360"/>
            <a:ext cx="7198920" cy="539640"/>
          </a:xfrm>
          <a:prstGeom prst="rect">
            <a:avLst/>
          </a:prstGeom>
          <a:solidFill>
            <a:srgbClr val="339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88" name="Picture 3" descr="W:\Рабочая\!Совещания Доклады\Для слайдов\!Шаблоны фон и тд\Лого 2017-2 для презентации 0-102-204.jpg"/>
          <p:cNvPicPr/>
          <p:nvPr/>
        </p:nvPicPr>
        <p:blipFill>
          <a:blip r:embed="rId2"/>
          <a:stretch/>
        </p:blipFill>
        <p:spPr>
          <a:xfrm>
            <a:off x="-17280" y="0"/>
            <a:ext cx="1943640" cy="1079640"/>
          </a:xfrm>
          <a:prstGeom prst="rect">
            <a:avLst/>
          </a:prstGeom>
          <a:ln w="0">
            <a:noFill/>
          </a:ln>
        </p:spPr>
      </p:pic>
      <p:sp>
        <p:nvSpPr>
          <p:cNvPr id="89" name="Прямоугольник 12"/>
          <p:cNvSpPr/>
          <p:nvPr/>
        </p:nvSpPr>
        <p:spPr>
          <a:xfrm>
            <a:off x="-17280" y="6345360"/>
            <a:ext cx="1943640" cy="5396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0" name="Номер слайда 5"/>
          <p:cNvSpPr/>
          <p:nvPr/>
        </p:nvSpPr>
        <p:spPr>
          <a:xfrm>
            <a:off x="0" y="6345360"/>
            <a:ext cx="1943280" cy="51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</a:pPr>
            <a:fld id="{FCD6E967-95B7-4254-8852-DB39FB121424}" type="slidenum">
              <a:rPr b="0" lang="ru-RU" sz="2000" spc="-1" strike="noStrike">
                <a:solidFill>
                  <a:srgbClr val="ffffff"/>
                </a:solidFill>
                <a:latin typeface="Arial Narrow"/>
              </a:rPr>
              <a:t>&lt;number&gt;</a:t>
            </a:fld>
            <a:endParaRPr b="0" lang="en-US" sz="2000" spc="-1" strike="noStrike">
              <a:latin typeface="Arial"/>
            </a:endParaRPr>
          </a:p>
        </p:txBody>
      </p:sp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ru-RU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ru-RU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ru-RU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ru-RU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ru-RU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ru-RU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ru-RU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ru-RU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Rectangle 12"/>
          <p:cNvSpPr/>
          <p:nvPr/>
        </p:nvSpPr>
        <p:spPr>
          <a:xfrm>
            <a:off x="2699640" y="6336360"/>
            <a:ext cx="7128000" cy="5292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406440" indent="-406440">
              <a:lnSpc>
                <a:spcPct val="8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Arial Narrow"/>
              </a:rPr>
              <a:t>II </a:t>
            </a:r>
            <a:r>
              <a:rPr b="0" lang="ru-RU" sz="2000" spc="-1" strike="noStrike">
                <a:solidFill>
                  <a:srgbClr val="ffffff"/>
                </a:solidFill>
                <a:latin typeface="Arial Narrow"/>
              </a:rPr>
              <a:t>Научно-практическая конференция «</a:t>
            </a:r>
            <a:r>
              <a:rPr b="0" lang="en-US" sz="2000" spc="-1" strike="noStrike">
                <a:solidFill>
                  <a:srgbClr val="ffffff"/>
                </a:solidFill>
                <a:latin typeface="Arial Narrow"/>
              </a:rPr>
              <a:t>PRO</a:t>
            </a:r>
            <a:r>
              <a:rPr b="0" lang="ru-RU" sz="2000" spc="-1" strike="noStrike">
                <a:solidFill>
                  <a:srgbClr val="ffffff"/>
                </a:solidFill>
                <a:latin typeface="Arial Narrow"/>
              </a:rPr>
              <a:t>движение»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36" name="TextBox 3"/>
          <p:cNvSpPr/>
          <p:nvPr/>
        </p:nvSpPr>
        <p:spPr>
          <a:xfrm>
            <a:off x="296640" y="2781000"/>
            <a:ext cx="931320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ru-RU" sz="4000" spc="-1" strike="noStrike">
                <a:solidFill>
                  <a:srgbClr val="ffffff"/>
                </a:solidFill>
                <a:latin typeface="Calibri"/>
              </a:rPr>
              <a:t>Проект по теме</a:t>
            </a:r>
            <a:r>
              <a:rPr b="0" lang="en-US" sz="4000" spc="-1" strike="noStrike">
                <a:solidFill>
                  <a:srgbClr val="ffffff"/>
                </a:solidFill>
                <a:latin typeface="Calibri"/>
              </a:rPr>
              <a:t>: </a:t>
            </a:r>
            <a:r>
              <a:rPr b="0" lang="ru-RU" sz="4000" spc="-1" strike="noStrike">
                <a:solidFill>
                  <a:srgbClr val="ffffff"/>
                </a:solidFill>
                <a:latin typeface="Calibri"/>
              </a:rPr>
              <a:t>Калькулятор ЕГЭ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137" name="TextBox 4"/>
          <p:cNvSpPr/>
          <p:nvPr/>
        </p:nvSpPr>
        <p:spPr>
          <a:xfrm>
            <a:off x="4428000" y="5085360"/>
            <a:ext cx="506304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Times New Roman"/>
              </a:rPr>
              <a:t>Автор проекта: Гриб Кирилл Тарасович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Times New Roman"/>
              </a:rPr>
              <a:t>11А класс, МАОУ "СОШ №3 г. Белоярский"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Times New Roman"/>
              </a:rPr>
              <a:t>Куратор проекта: Терехов А.В.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Rectangle 12"/>
          <p:cNvSpPr/>
          <p:nvPr/>
        </p:nvSpPr>
        <p:spPr>
          <a:xfrm>
            <a:off x="2699640" y="6339600"/>
            <a:ext cx="7128000" cy="5292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406440" indent="-406440">
              <a:lnSpc>
                <a:spcPct val="8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Arial Narrow"/>
              </a:rPr>
              <a:t>II </a:t>
            </a:r>
            <a:r>
              <a:rPr b="0" lang="ru-RU" sz="2000" spc="-1" strike="noStrike">
                <a:solidFill>
                  <a:srgbClr val="ffffff"/>
                </a:solidFill>
                <a:latin typeface="Arial Narrow"/>
              </a:rPr>
              <a:t>Научно-практическая конференция «</a:t>
            </a:r>
            <a:r>
              <a:rPr b="0" lang="en-US" sz="2000" spc="-1" strike="noStrike">
                <a:solidFill>
                  <a:srgbClr val="ffffff"/>
                </a:solidFill>
                <a:latin typeface="Arial Narrow"/>
              </a:rPr>
              <a:t>PRO</a:t>
            </a:r>
            <a:r>
              <a:rPr b="0" lang="ru-RU" sz="2000" spc="-1" strike="noStrike">
                <a:solidFill>
                  <a:srgbClr val="ffffff"/>
                </a:solidFill>
                <a:latin typeface="Arial Narrow"/>
              </a:rPr>
              <a:t>движение»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39" name="TextBox 4"/>
          <p:cNvSpPr/>
          <p:nvPr/>
        </p:nvSpPr>
        <p:spPr>
          <a:xfrm>
            <a:off x="2555640" y="210600"/>
            <a:ext cx="604836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3000" spc="-1" strike="noStrike">
                <a:solidFill>
                  <a:srgbClr val="ffffff"/>
                </a:solidFill>
                <a:latin typeface="Calibri"/>
              </a:rPr>
              <a:t>Калькулятор ЕГЭ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140" name="TextBox 1"/>
          <p:cNvSpPr/>
          <p:nvPr/>
        </p:nvSpPr>
        <p:spPr>
          <a:xfrm>
            <a:off x="251640" y="1700640"/>
            <a:ext cx="8568720" cy="338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>
              <a:lnSpc>
                <a:spcPct val="100000"/>
              </a:lnSpc>
              <a:buNone/>
            </a:pPr>
            <a:r>
              <a:rPr b="1" lang="ru-RU" sz="2400" spc="-1" strike="noStrike">
                <a:solidFill>
                  <a:srgbClr val="000000"/>
                </a:solidFill>
                <a:latin typeface="Calibri"/>
              </a:rPr>
              <a:t>Цель проекта</a:t>
            </a: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: помочь абитуриентам определиться с дальнейшей траекторией обучения на основе полученных баллов на ЕГЭ.</a:t>
            </a:r>
            <a:endParaRPr b="0" lang="en-US" sz="2400" spc="-1" strike="noStrike">
              <a:latin typeface="Arial"/>
            </a:endParaRPr>
          </a:p>
          <a:p>
            <a:pPr algn="just">
              <a:lnSpc>
                <a:spcPct val="100000"/>
              </a:lnSpc>
              <a:buNone/>
            </a:pPr>
            <a:endParaRPr b="0" lang="en-US" sz="2400" spc="-1" strike="noStrike">
              <a:latin typeface="Arial"/>
            </a:endParaRPr>
          </a:p>
          <a:p>
            <a:pPr algn="just">
              <a:lnSpc>
                <a:spcPct val="100000"/>
              </a:lnSpc>
              <a:buNone/>
            </a:pPr>
            <a:r>
              <a:rPr b="1" lang="ru-RU" sz="2400" spc="-1" strike="noStrike">
                <a:solidFill>
                  <a:srgbClr val="000000"/>
                </a:solidFill>
                <a:latin typeface="Calibri"/>
              </a:rPr>
              <a:t>Задачи проекта</a:t>
            </a: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:</a:t>
            </a:r>
            <a:endParaRPr b="0" lang="en-US" sz="2400" spc="-1" strike="noStrike">
              <a:latin typeface="Arial"/>
            </a:endParaRPr>
          </a:p>
          <a:p>
            <a:pPr marL="343080" indent="-343080" algn="just">
              <a:lnSpc>
                <a:spcPct val="10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Выявить проблемы выпускников, связанных с выбором профессии.</a:t>
            </a:r>
            <a:endParaRPr b="0" lang="en-US" sz="2400" spc="-1" strike="noStrike">
              <a:latin typeface="Arial"/>
            </a:endParaRPr>
          </a:p>
          <a:p>
            <a:pPr marL="343080" indent="-343080" algn="just">
              <a:lnSpc>
                <a:spcPct val="10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Создать чат-бот, позволяющий определиться со специальностью.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extBox 1"/>
          <p:cNvSpPr/>
          <p:nvPr/>
        </p:nvSpPr>
        <p:spPr>
          <a:xfrm>
            <a:off x="2555640" y="210600"/>
            <a:ext cx="604836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3000" spc="-1" strike="noStrike">
                <a:solidFill>
                  <a:srgbClr val="ffffff"/>
                </a:solidFill>
                <a:latin typeface="Calibri"/>
              </a:rPr>
              <a:t>Калькулятор ЕГЭ</a:t>
            </a:r>
            <a:endParaRPr b="0" lang="en-US" sz="3000" spc="-1" strike="noStrike">
              <a:latin typeface="Arial"/>
            </a:endParaRPr>
          </a:p>
        </p:txBody>
      </p:sp>
      <p:pic>
        <p:nvPicPr>
          <p:cNvPr id="142" name="Рисунок 5" descr=""/>
          <p:cNvPicPr/>
          <p:nvPr/>
        </p:nvPicPr>
        <p:blipFill>
          <a:blip r:embed="rId1"/>
          <a:stretch/>
        </p:blipFill>
        <p:spPr>
          <a:xfrm>
            <a:off x="539640" y="1196640"/>
            <a:ext cx="8280720" cy="4977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extBox 1"/>
          <p:cNvSpPr/>
          <p:nvPr/>
        </p:nvSpPr>
        <p:spPr>
          <a:xfrm>
            <a:off x="2555640" y="210600"/>
            <a:ext cx="604836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3000" spc="-1" strike="noStrike">
                <a:solidFill>
                  <a:srgbClr val="ffffff"/>
                </a:solidFill>
                <a:latin typeface="Calibri"/>
              </a:rPr>
              <a:t>Калькулятор ЕГЭ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144" name="TextBox 2"/>
          <p:cNvSpPr/>
          <p:nvPr/>
        </p:nvSpPr>
        <p:spPr>
          <a:xfrm>
            <a:off x="251640" y="1340640"/>
            <a:ext cx="8568720" cy="338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>
              <a:lnSpc>
                <a:spcPct val="100000"/>
              </a:lnSpc>
              <a:buNone/>
            </a:pPr>
            <a:r>
              <a:rPr b="1" lang="ru-RU" sz="2400" spc="-1" strike="noStrike">
                <a:solidFill>
                  <a:srgbClr val="000000"/>
                </a:solidFill>
                <a:latin typeface="Calibri"/>
              </a:rPr>
              <a:t>Изученные технологии, позволяющие реализовать поставленные задачи:</a:t>
            </a:r>
            <a:endParaRPr b="0" lang="en-US" sz="2400" spc="-1" strike="noStrike">
              <a:latin typeface="Arial"/>
            </a:endParaRPr>
          </a:p>
          <a:p>
            <a:pPr marL="457200" indent="-457200" algn="just">
              <a:lnSpc>
                <a:spcPct val="10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Язык программирования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Python</a:t>
            </a:r>
            <a:endParaRPr b="0" lang="en-US" sz="2400" spc="-1" strike="noStrike">
              <a:latin typeface="Arial"/>
            </a:endParaRPr>
          </a:p>
          <a:p>
            <a:pPr marL="457200" indent="-457200" algn="just">
              <a:lnSpc>
                <a:spcPct val="10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Библиотеки </a:t>
            </a:r>
            <a:endParaRPr b="0" lang="en-US" sz="2400" spc="-1" strike="noStrike">
              <a:latin typeface="Arial"/>
            </a:endParaRPr>
          </a:p>
          <a:p>
            <a:pPr marL="623880" indent="-260280" algn="just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python-telegram-bot</a:t>
            </a:r>
            <a:endParaRPr b="0" lang="en-US" sz="2400" spc="-1" strike="noStrike">
              <a:latin typeface="Arial"/>
            </a:endParaRPr>
          </a:p>
          <a:p>
            <a:pPr marL="623880" indent="-260280" algn="just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SQLite</a:t>
            </a:r>
            <a:endParaRPr b="0" lang="en-US" sz="2400" spc="-1" strike="noStrike">
              <a:latin typeface="Arial"/>
            </a:endParaRPr>
          </a:p>
          <a:p>
            <a:pPr marL="623880" indent="-260280" algn="just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logging</a:t>
            </a:r>
            <a:endParaRPr b="0" lang="en-US" sz="2400" spc="-1" strike="noStrike">
              <a:latin typeface="Arial"/>
            </a:endParaRPr>
          </a:p>
          <a:p>
            <a:pPr marL="623880" indent="-260280" algn="just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re</a:t>
            </a:r>
            <a:endParaRPr b="0" lang="en-US" sz="2400" spc="-1" strike="noStrike">
              <a:latin typeface="Arial"/>
            </a:endParaRPr>
          </a:p>
          <a:p>
            <a:pPr marL="623880" indent="-260280" algn="just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pprint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45" name="Рисунок 4" descr=""/>
          <p:cNvPicPr/>
          <p:nvPr/>
        </p:nvPicPr>
        <p:blipFill>
          <a:blip r:embed="rId1"/>
          <a:stretch/>
        </p:blipFill>
        <p:spPr>
          <a:xfrm>
            <a:off x="5921640" y="4797000"/>
            <a:ext cx="2898720" cy="1439640"/>
          </a:xfrm>
          <a:prstGeom prst="rect">
            <a:avLst/>
          </a:prstGeom>
          <a:ln w="0">
            <a:noFill/>
          </a:ln>
        </p:spPr>
      </p:pic>
      <p:pic>
        <p:nvPicPr>
          <p:cNvPr id="146" name="Рисунок 5" descr=""/>
          <p:cNvPicPr/>
          <p:nvPr/>
        </p:nvPicPr>
        <p:blipFill>
          <a:blip r:embed="rId2"/>
          <a:stretch/>
        </p:blipFill>
        <p:spPr>
          <a:xfrm>
            <a:off x="395640" y="4797000"/>
            <a:ext cx="1439640" cy="1439640"/>
          </a:xfrm>
          <a:prstGeom prst="rect">
            <a:avLst/>
          </a:prstGeom>
          <a:ln w="0">
            <a:noFill/>
          </a:ln>
        </p:spPr>
      </p:pic>
      <p:pic>
        <p:nvPicPr>
          <p:cNvPr id="147" name="Рисунок 6" descr=""/>
          <p:cNvPicPr/>
          <p:nvPr/>
        </p:nvPicPr>
        <p:blipFill>
          <a:blip r:embed="rId3"/>
          <a:stretch/>
        </p:blipFill>
        <p:spPr>
          <a:xfrm>
            <a:off x="2771640" y="4757040"/>
            <a:ext cx="2644200" cy="143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extBox 1"/>
          <p:cNvSpPr/>
          <p:nvPr/>
        </p:nvSpPr>
        <p:spPr>
          <a:xfrm>
            <a:off x="2555640" y="210600"/>
            <a:ext cx="604836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3000" spc="-1" strike="noStrike">
                <a:solidFill>
                  <a:srgbClr val="ffffff"/>
                </a:solidFill>
                <a:latin typeface="Calibri"/>
              </a:rPr>
              <a:t>Калькулятор ЕГЭ</a:t>
            </a:r>
            <a:endParaRPr b="0" lang="en-US" sz="3000" spc="-1" strike="noStrike">
              <a:latin typeface="Arial"/>
            </a:endParaRPr>
          </a:p>
        </p:txBody>
      </p:sp>
      <p:pic>
        <p:nvPicPr>
          <p:cNvPr id="149" name="Google Shape;405;p55" descr=""/>
          <p:cNvPicPr/>
          <p:nvPr/>
        </p:nvPicPr>
        <p:blipFill>
          <a:blip r:embed="rId1"/>
          <a:stretch/>
        </p:blipFill>
        <p:spPr>
          <a:xfrm>
            <a:off x="810360" y="2493000"/>
            <a:ext cx="7865640" cy="2664000"/>
          </a:xfrm>
          <a:prstGeom prst="rect">
            <a:avLst/>
          </a:prstGeom>
          <a:ln w="0">
            <a:noFill/>
          </a:ln>
        </p:spPr>
      </p:pic>
      <p:sp>
        <p:nvSpPr>
          <p:cNvPr id="150" name="TextBox 3"/>
          <p:cNvSpPr/>
          <p:nvPr/>
        </p:nvSpPr>
        <p:spPr>
          <a:xfrm>
            <a:off x="251640" y="1340640"/>
            <a:ext cx="85687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ru-RU" sz="2400" spc="-1" strike="noStrike">
                <a:solidFill>
                  <a:srgbClr val="000000"/>
                </a:solidFill>
                <a:latin typeface="Calibri"/>
              </a:rPr>
              <a:t>Приветственное окно чат-бота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412;p56" descr=""/>
          <p:cNvPicPr/>
          <p:nvPr/>
        </p:nvPicPr>
        <p:blipFill>
          <a:blip r:embed="rId1"/>
          <a:stretch/>
        </p:blipFill>
        <p:spPr>
          <a:xfrm>
            <a:off x="4487400" y="2073960"/>
            <a:ext cx="4068720" cy="1583640"/>
          </a:xfrm>
          <a:prstGeom prst="rect">
            <a:avLst/>
          </a:prstGeom>
          <a:ln w="0">
            <a:noFill/>
          </a:ln>
        </p:spPr>
      </p:pic>
      <p:pic>
        <p:nvPicPr>
          <p:cNvPr id="152" name="Google Shape;413;p56" descr=""/>
          <p:cNvPicPr/>
          <p:nvPr/>
        </p:nvPicPr>
        <p:blipFill>
          <a:blip r:embed="rId2"/>
          <a:stretch/>
        </p:blipFill>
        <p:spPr>
          <a:xfrm>
            <a:off x="457200" y="2017800"/>
            <a:ext cx="3528000" cy="4310640"/>
          </a:xfrm>
          <a:prstGeom prst="rect">
            <a:avLst/>
          </a:prstGeom>
          <a:ln w="0">
            <a:noFill/>
          </a:ln>
        </p:spPr>
      </p:pic>
      <p:sp>
        <p:nvSpPr>
          <p:cNvPr id="153" name="TextBox 3"/>
          <p:cNvSpPr/>
          <p:nvPr/>
        </p:nvSpPr>
        <p:spPr>
          <a:xfrm>
            <a:off x="683640" y="1196640"/>
            <a:ext cx="856872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ru-RU" sz="2400" spc="-1" strike="noStrike">
                <a:solidFill>
                  <a:srgbClr val="000000"/>
                </a:solidFill>
                <a:latin typeface="Calibri"/>
              </a:rPr>
              <a:t>Инструменты для сохранения / редактирования баллов ЕГЭ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54" name="TextBox 4"/>
          <p:cNvSpPr/>
          <p:nvPr/>
        </p:nvSpPr>
        <p:spPr>
          <a:xfrm>
            <a:off x="2555640" y="210600"/>
            <a:ext cx="604836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3000" spc="-1" strike="noStrike">
                <a:solidFill>
                  <a:srgbClr val="ffffff"/>
                </a:solidFill>
                <a:latin typeface="Calibri"/>
              </a:rPr>
              <a:t>Калькулятор ЕГЭ</a:t>
            </a:r>
            <a:endParaRPr b="0" lang="en-US" sz="3000" spc="-1" strike="noStrike">
              <a:latin typeface="Arial"/>
            </a:endParaRPr>
          </a:p>
        </p:txBody>
      </p:sp>
      <p:pic>
        <p:nvPicPr>
          <p:cNvPr id="155" name="" descr=""/>
          <p:cNvPicPr/>
          <p:nvPr/>
        </p:nvPicPr>
        <p:blipFill>
          <a:blip r:embed="rId3"/>
          <a:stretch/>
        </p:blipFill>
        <p:spPr>
          <a:xfrm>
            <a:off x="4343400" y="4545720"/>
            <a:ext cx="4343400" cy="940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extBox 1"/>
          <p:cNvSpPr/>
          <p:nvPr/>
        </p:nvSpPr>
        <p:spPr>
          <a:xfrm>
            <a:off x="683640" y="1196640"/>
            <a:ext cx="85687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ru-RU" sz="2400" spc="-1" strike="noStrike">
                <a:solidFill>
                  <a:srgbClr val="000000"/>
                </a:solidFill>
                <a:latin typeface="Calibri"/>
              </a:rPr>
              <a:t>Окно поиска специальностей в ВУЗах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57" name="TextBox 2"/>
          <p:cNvSpPr/>
          <p:nvPr/>
        </p:nvSpPr>
        <p:spPr>
          <a:xfrm>
            <a:off x="2555640" y="210600"/>
            <a:ext cx="604836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3000" spc="-1" strike="noStrike">
                <a:solidFill>
                  <a:srgbClr val="ffffff"/>
                </a:solidFill>
                <a:latin typeface="Calibri"/>
              </a:rPr>
              <a:t>Калькулятор ЕГЭ</a:t>
            </a:r>
            <a:endParaRPr b="0" lang="en-US" sz="3000" spc="-1" strike="noStrike">
              <a:latin typeface="Arial"/>
            </a:endParaRPr>
          </a:p>
        </p:txBody>
      </p:sp>
      <p:pic>
        <p:nvPicPr>
          <p:cNvPr id="158" name="" descr=""/>
          <p:cNvPicPr/>
          <p:nvPr/>
        </p:nvPicPr>
        <p:blipFill>
          <a:blip r:embed="rId1"/>
          <a:stretch/>
        </p:blipFill>
        <p:spPr>
          <a:xfrm>
            <a:off x="2743200" y="2030040"/>
            <a:ext cx="3927600" cy="3684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Box 1"/>
          <p:cNvSpPr/>
          <p:nvPr/>
        </p:nvSpPr>
        <p:spPr>
          <a:xfrm>
            <a:off x="323640" y="1340640"/>
            <a:ext cx="8568720" cy="264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С помощью данного калькулятора выпускник может быстро узнать в какие ВУЗы у него есть возможность поступить. 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Такой калькулятор можно разместить на любом школьном сайте или сайтах колледжей для большего охвата выпускников.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60" name="TextBox 2"/>
          <p:cNvSpPr/>
          <p:nvPr/>
        </p:nvSpPr>
        <p:spPr>
          <a:xfrm>
            <a:off x="2555640" y="210600"/>
            <a:ext cx="604836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3000" spc="-1" strike="noStrike">
                <a:solidFill>
                  <a:srgbClr val="ffffff"/>
                </a:solidFill>
                <a:latin typeface="Calibri"/>
              </a:rPr>
              <a:t>Калькулятор ЕГЭ</a:t>
            </a:r>
            <a:endParaRPr b="0" lang="en-US" sz="3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Прямоугольник 1"/>
          <p:cNvSpPr/>
          <p:nvPr/>
        </p:nvSpPr>
        <p:spPr>
          <a:xfrm>
            <a:off x="2426040" y="1268640"/>
            <a:ext cx="48020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ru-RU" sz="2400" spc="-1" strike="noStrike">
                <a:solidFill>
                  <a:srgbClr val="000000"/>
                </a:solidFill>
                <a:latin typeface="Calibri"/>
              </a:rPr>
              <a:t>Что добавить в будущем?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62" name="TextBox 5"/>
          <p:cNvSpPr/>
          <p:nvPr/>
        </p:nvSpPr>
        <p:spPr>
          <a:xfrm>
            <a:off x="395640" y="2023560"/>
            <a:ext cx="8496720" cy="14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Calibri"/>
              <a:buAutoNum type="arabicPeriod"/>
            </a:pP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Получение информации о специальностях в реальном времени по средствам технологии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API</a:t>
            </a: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.</a:t>
            </a:r>
            <a:endParaRPr b="0" lang="en-US" sz="2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Calibri"/>
              <a:buAutoNum type="arabicPeriod"/>
            </a:pPr>
            <a:r>
              <a:rPr b="0" lang="ru-RU" sz="2400" spc="-1" strike="noStrike">
                <a:solidFill>
                  <a:srgbClr val="000000"/>
                </a:solidFill>
                <a:latin typeface="Calibri"/>
              </a:rPr>
              <a:t>Сохранение выбранных пользователем вузов.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800" spc="-1" strike="noStrike">
              <a:latin typeface="Arial"/>
            </a:endParaRPr>
          </a:p>
        </p:txBody>
      </p:sp>
      <p:sp>
        <p:nvSpPr>
          <p:cNvPr id="163" name="TextBox 6"/>
          <p:cNvSpPr/>
          <p:nvPr/>
        </p:nvSpPr>
        <p:spPr>
          <a:xfrm>
            <a:off x="2555640" y="210600"/>
            <a:ext cx="604836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3000" spc="-1" strike="noStrike">
                <a:solidFill>
                  <a:srgbClr val="ffffff"/>
                </a:solidFill>
                <a:latin typeface="Calibri"/>
              </a:rPr>
              <a:t>Калькулятор ЕГЭ</a:t>
            </a:r>
            <a:endParaRPr b="0" lang="en-US" sz="3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Прямоугольник 1"/>
          <p:cNvSpPr/>
          <p:nvPr/>
        </p:nvSpPr>
        <p:spPr>
          <a:xfrm>
            <a:off x="1924200" y="2709000"/>
            <a:ext cx="7219440" cy="3600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5" name="Text Box 10"/>
          <p:cNvSpPr/>
          <p:nvPr/>
        </p:nvSpPr>
        <p:spPr>
          <a:xfrm>
            <a:off x="2195640" y="1854360"/>
            <a:ext cx="6278760" cy="686160"/>
          </a:xfrm>
          <a:prstGeom prst="rect">
            <a:avLst/>
          </a:prstGeom>
          <a:noFill/>
          <a:ln w="9525">
            <a:noFill/>
          </a:ln>
          <a:effectLst>
            <a:glow rad="101520">
              <a:srgbClr val="000000">
                <a:alpha val="60000"/>
              </a:srgbClr>
            </a:glow>
          </a:effectLst>
        </p:spPr>
        <p:style>
          <a:lnRef idx="0"/>
          <a:fillRef idx="0"/>
          <a:effectRef idx="0"/>
          <a:fontRef idx="minor"/>
        </p:style>
        <p:txBody>
          <a:bodyPr lIns="77040" rIns="77040" tIns="38520" bIns="38520" anchor="t">
            <a:spAutoFit/>
          </a:bodyPr>
          <a:p>
            <a:pPr>
              <a:lnSpc>
                <a:spcPct val="100000"/>
              </a:lnSpc>
              <a:spcBef>
                <a:spcPts val="2001"/>
              </a:spcBef>
              <a:buNone/>
            </a:pPr>
            <a:r>
              <a:rPr b="1" lang="ru-RU" sz="4000" spc="-1" strike="noStrike">
                <a:solidFill>
                  <a:srgbClr val="003366"/>
                </a:solidFill>
                <a:latin typeface="Arial Narrow"/>
              </a:rPr>
              <a:t>Спасибо за внимание!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166" name="Rectangle 12"/>
          <p:cNvSpPr/>
          <p:nvPr/>
        </p:nvSpPr>
        <p:spPr>
          <a:xfrm>
            <a:off x="2015640" y="6355800"/>
            <a:ext cx="7128000" cy="5292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406440" indent="-406440">
              <a:lnSpc>
                <a:spcPct val="8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Arial Narrow"/>
              </a:rPr>
              <a:t>II </a:t>
            </a:r>
            <a:r>
              <a:rPr b="0" lang="ru-RU" sz="2000" spc="-1" strike="noStrike">
                <a:solidFill>
                  <a:srgbClr val="ffffff"/>
                </a:solidFill>
                <a:latin typeface="Arial Narrow"/>
              </a:rPr>
              <a:t>Научно-практическая конференция «</a:t>
            </a:r>
            <a:r>
              <a:rPr b="0" lang="en-US" sz="2000" spc="-1" strike="noStrike">
                <a:solidFill>
                  <a:srgbClr val="ffffff"/>
                </a:solidFill>
                <a:latin typeface="Arial Narrow"/>
              </a:rPr>
              <a:t>PRO</a:t>
            </a:r>
            <a:r>
              <a:rPr b="0" lang="ru-RU" sz="2000" spc="-1" strike="noStrike">
                <a:solidFill>
                  <a:srgbClr val="ffffff"/>
                </a:solidFill>
                <a:latin typeface="Arial Narrow"/>
              </a:rPr>
              <a:t>движение»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9139</TotalTime>
  <Application>LibreOffice/7.3.7.2$Linux_X86_64 LibreOffice_project/30$Build-2</Application>
  <AppVersion>15.0000</AppVersion>
  <Words>198</Words>
  <Paragraphs>41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2017-05-11T09:01:55Z</dcterms:created>
  <dc:creator>Елизавета Ю. Теличко</dc:creator>
  <dc:description/>
  <dc:language>en-US</dc:language>
  <cp:lastModifiedBy/>
  <cp:lastPrinted>2019-03-18T08:00:50Z</cp:lastPrinted>
  <dcterms:modified xsi:type="dcterms:W3CDTF">2023-04-24T20:20:04Z</dcterms:modified>
  <cp:revision>627</cp:revision>
  <dc:subject/>
  <dc:title>Слайд 1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</vt:i4>
  </property>
  <property fmtid="{D5CDD505-2E9C-101B-9397-08002B2CF9AE}" pid="3" name="PresentationFormat">
    <vt:lpwstr>Экран (4:3)</vt:lpwstr>
  </property>
  <property fmtid="{D5CDD505-2E9C-101B-9397-08002B2CF9AE}" pid="4" name="Slides">
    <vt:i4>10</vt:i4>
  </property>
</Properties>
</file>